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cnt</c:v>
                </c:pt>
              </c:strCache>
            </c:strRef>
          </c:tx>
          <c:spPr>
            <a:ln w="25400" cap="flat">
              <a:solidFill>
                <a:srgbClr val="5B2E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B2EFF"/>
              </a:solidFill>
              <a:ln w="9525" cap="flat">
                <a:solidFill>
                  <a:srgbClr val="5B2EFF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16.348837209302324</c:v>
                </c:pt>
                <c:pt idx="1">
                  <c:v>10.697674418604651</c:v>
                </c:pt>
                <c:pt idx="2">
                  <c:v>7.1707317073170733</c:v>
                </c:pt>
                <c:pt idx="3">
                  <c:v>4.870967741935484</c:v>
                </c:pt>
                <c:pt idx="4">
                  <c:v>2.15625</c:v>
                </c:pt>
                <c:pt idx="5">
                  <c:v>4.2051282051282053</c:v>
                </c:pt>
                <c:pt idx="6">
                  <c:v>19.571428571428573</c:v>
                </c:pt>
                <c:pt idx="7">
                  <c:v>54.395348837209305</c:v>
                </c:pt>
                <c:pt idx="8">
                  <c:v>128.28571428571428</c:v>
                </c:pt>
                <c:pt idx="9">
                  <c:v>87.428571428571431</c:v>
                </c:pt>
                <c:pt idx="10">
                  <c:v>53.642857142857146</c:v>
                </c:pt>
                <c:pt idx="11">
                  <c:v>59.38095238095238</c:v>
                </c:pt>
                <c:pt idx="12">
                  <c:v>76.348837209302332</c:v>
                </c:pt>
                <c:pt idx="13">
                  <c:v>78.511627906976742</c:v>
                </c:pt>
                <c:pt idx="14">
                  <c:v>74.418604651162795</c:v>
                </c:pt>
                <c:pt idx="15">
                  <c:v>77.95348837209302</c:v>
                </c:pt>
                <c:pt idx="16">
                  <c:v>89.272727272727266</c:v>
                </c:pt>
                <c:pt idx="17">
                  <c:v>140.20454545454547</c:v>
                </c:pt>
                <c:pt idx="18">
                  <c:v>122.86046511627907</c:v>
                </c:pt>
                <c:pt idx="19">
                  <c:v>85.139534883720927</c:v>
                </c:pt>
                <c:pt idx="20">
                  <c:v>61.767441860465119</c:v>
                </c:pt>
                <c:pt idx="21">
                  <c:v>46.418604651162788</c:v>
                </c:pt>
                <c:pt idx="22">
                  <c:v>35.069767441860463</c:v>
                </c:pt>
                <c:pt idx="23">
                  <c:v>25.186046511627907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DE-4714-ADB1-CB8F7C615A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cnt</c:v>
                </c:pt>
              </c:strCache>
            </c:strRef>
          </c:tx>
          <c:spPr>
            <a:solidFill>
              <a:srgbClr val="5B2EF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56.711409395973156</c:v>
                </c:pt>
                <c:pt idx="1">
                  <c:v>66.00787401574803</c:v>
                </c:pt>
                <c:pt idx="2">
                  <c:v>61.44274809160305</c:v>
                </c:pt>
                <c:pt idx="3">
                  <c:v>67.664000000000001</c:v>
                </c:pt>
                <c:pt idx="4">
                  <c:v>65.905797101449281</c:v>
                </c:pt>
                <c:pt idx="5">
                  <c:v>46.674698795180724</c:v>
                </c:pt>
                <c:pt idx="6">
                  <c:v>49.518292682926827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49-4808-99FD-2C3523FA3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cnt</c:v>
                </c:pt>
              </c:strCache>
            </c:strRef>
          </c:tx>
          <c:spPr>
            <a:solidFill>
              <a:srgbClr val="5B2EFF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63.335820895522389</c:v>
                </c:pt>
                <c:pt idx="1">
                  <c:v>48.087878787878786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CA-4D92-A77F-6879C5424A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cnt</c:v>
                </c:pt>
              </c:strCache>
            </c:strRef>
          </c:tx>
          <c:spPr>
            <a:solidFill>
              <a:srgbClr val="5B2EF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Clear / Partly Cloudy</c:v>
                </c:pt>
                <c:pt idx="1">
                  <c:v>Mist / Cloudy</c:v>
                </c:pt>
                <c:pt idx="2">
                  <c:v>Heavy Precipitation</c:v>
                </c:pt>
                <c:pt idx="3">
                  <c:v>Light Snow / Rain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61.671617161716171</c:v>
                </c:pt>
                <c:pt idx="1">
                  <c:v>58.595469255663431</c:v>
                </c:pt>
                <c:pt idx="2">
                  <c:v>36</c:v>
                </c:pt>
                <c:pt idx="3">
                  <c:v>33.202380952380949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55-4AFA-A316-9373DA1D0D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cnt</c:v>
                </c:pt>
              </c:strCache>
            </c:strRef>
          </c:tx>
          <c:spPr>
            <a:solidFill>
              <a:srgbClr val="5B2EFF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Cold</c:v>
                </c:pt>
                <c:pt idx="1">
                  <c:v>Mild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47.684705882352944</c:v>
                </c:pt>
                <c:pt idx="1">
                  <c:v>66.153043478260869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01-4D70-836B-89AFE3C317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cnt</c:v>
                </c:pt>
              </c:strCache>
            </c:strRef>
          </c:tx>
          <c:spPr>
            <a:solidFill>
              <a:srgbClr val="5B2E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Gale</c:v>
                </c:pt>
                <c:pt idx="1">
                  <c:v>Light Breeze</c:v>
                </c:pt>
                <c:pt idx="2">
                  <c:v>Calm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68.966666666666669</c:v>
                </c:pt>
                <c:pt idx="1">
                  <c:v>57.37087378640777</c:v>
                </c:pt>
                <c:pt idx="2">
                  <c:v>53.586885245901641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D3-4E6A-8D92-36CB0608EF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cnt</c:v>
                </c:pt>
              </c:strCache>
            </c:strRef>
          </c:tx>
          <c:spPr>
            <a:solidFill>
              <a:srgbClr val="5B2EF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Midday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67.067193675889328</c:v>
                </c:pt>
                <c:pt idx="1">
                  <c:v>79.347222222222229</c:v>
                </c:pt>
                <c:pt idx="2">
                  <c:v>102.71098265895954</c:v>
                </c:pt>
                <c:pt idx="3">
                  <c:v>17.955307262569832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1C-48E2-A305-E43FBB56EA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cnt</c:v>
                </c:pt>
              </c:strCache>
            </c:strRef>
          </c:tx>
          <c:spPr>
            <a:ln w="25400" cap="flat">
              <a:solidFill>
                <a:srgbClr val="5B2E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B2EFF"/>
              </a:solidFill>
              <a:ln w="9525" cap="flat">
                <a:solidFill>
                  <a:srgbClr val="5B2EFF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2011-01</c:v>
                </c:pt>
                <c:pt idx="1">
                  <c:v>2011-02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38189</c:v>
                </c:pt>
                <c:pt idx="1">
                  <c:v>20115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4F-45CA-8EBB-D0B3E19E94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FF6B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temp</c:v>
                </c:pt>
                <c:pt idx="1">
                  <c:v>atemp</c:v>
                </c:pt>
                <c:pt idx="2">
                  <c:v>hum</c:v>
                </c:pt>
                <c:pt idx="3">
                  <c:v>windspeed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0.22929155386993344</c:v>
                </c:pt>
                <c:pt idx="1">
                  <c:v>0.20014435767254254</c:v>
                </c:pt>
                <c:pt idx="2">
                  <c:v>-0.25435329828790409</c:v>
                </c:pt>
                <c:pt idx="3">
                  <c:v>0.10399668008577613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95-4C92-9110-4A221BD579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Anomaly count</c:v>
                </c:pt>
              </c:strCache>
            </c:strRef>
          </c:tx>
          <c:spPr>
            <a:solidFill>
              <a:srgbClr val="5B2EFF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76-4054-8D48-593A6CB1F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200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CleanedData, Stats (computed metrics)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Project Guide, CleanedData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CleanedData, Stats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sheets: data 1, data 2, data 3, Merged Data, CleanedData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CleanedData (rolling_mean_24h, rolling_std_24h, zscore_24h, anomaly flag)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CleanedData (hr, cnt)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CleanedData (Day Name, Weekend_Weekday, cnt)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CleanedData (weather_label, temp_band, Wind Category, cnt)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CleanedData (Std Hr Classification, dteday, cnt)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Stats (correlations), CleanedData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CleanedData (zscore_24h, anomaly flag)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Bike Sharing Data Project Original (To be Submitted).xlsx | sheet: CleanedData, Stats (aggregations and correlations used in insights)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97280"/>
            <a:ext cx="11185855" cy="448056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64592" cy="44805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window: 2011-01-01 to 2011-02-14  |  Target: cnt (total rentals)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2788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33272" y="28346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3272" y="30998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58,304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2743200"/>
            <a:ext cx="2788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005072" y="28346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05072" y="30998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12280" y="2743200"/>
            <a:ext cx="2788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76872" y="28346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rentals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76872" y="309981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3611880"/>
            <a:ext cx="2788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33272" y="37033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33272" y="396849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525780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submission | Visual theme pack (A–D)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E51B30-54CD-AA1D-F15F-319F7E2C418D}"/>
              </a:ext>
            </a:extLst>
          </p:cNvPr>
          <p:cNvSpPr txBox="1"/>
          <p:nvPr/>
        </p:nvSpPr>
        <p:spPr>
          <a:xfrm>
            <a:off x="8806255" y="6309360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to learn from the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1185855" cy="530352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10454335" cy="135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demand patterns across hours and days to support planning and rebalancing.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conditions (weather, temperature, humidity, wind) influence rentals.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abnormal spikes/drops using rolling statistics (24-hour window) and Z-score.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practical recommendations for operations and forecasting.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2/12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D9222-05E6-CEF4-DD0B-F1B81668AB8D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size, and key fields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2659304" cy="12344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6B0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04088" y="1399032"/>
            <a:ext cx="225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(rows)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1655064"/>
            <a:ext cx="2256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45104" y="1234440"/>
            <a:ext cx="2659304" cy="12344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6B0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46272" y="1399032"/>
            <a:ext cx="225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 (cnt)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46272" y="1655064"/>
            <a:ext cx="2256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58,304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187288" y="1234440"/>
            <a:ext cx="2659304" cy="12344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6B0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88456" y="1399032"/>
            <a:ext cx="225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rentals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88456" y="1655064"/>
            <a:ext cx="2256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029471" y="1234440"/>
            <a:ext cx="2659304" cy="12344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6B0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230639" y="1399032"/>
            <a:ext cx="225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rentals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30639" y="1655064"/>
            <a:ext cx="2256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02920" y="2743200"/>
            <a:ext cx="5478628" cy="28346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1520" y="2907792"/>
            <a:ext cx="50214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310128"/>
            <a:ext cx="4838548" cy="135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dteday, hr (time dimension)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(target demand)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weather_label, temp, hum, windspeed (drivers)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Weekend_Weekday, Day Name (behavior)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148" y="2743200"/>
            <a:ext cx="5478628" cy="28346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38748" y="2907792"/>
            <a:ext cx="50214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0188" y="3401568"/>
            <a:ext cx="48385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2011-01-01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2011-02-14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 (avg): 17:00 (140.2)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3/12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77952-D283-BBE9-D216-E1629AE2F0CD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clean, and standardize for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1185855" cy="21488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1892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78608" y="1920240"/>
            <a:ext cx="164592" cy="320040"/>
          </a:xfrm>
          <a:prstGeom prst="rightArrow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61488" y="169164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61488" y="1892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17136" y="1920240"/>
            <a:ext cx="164592" cy="320040"/>
          </a:xfrm>
          <a:prstGeom prst="rightArrow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00016" y="169164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0016" y="1892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55664" y="1920240"/>
            <a:ext cx="164592" cy="320040"/>
          </a:xfrm>
          <a:prstGeom prst="rightArrow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38544" y="169164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38544" y="1892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Data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94192" y="1920240"/>
            <a:ext cx="164592" cy="320040"/>
          </a:xfrm>
          <a:prstGeom prst="rightArrow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577072" y="1691640"/>
            <a:ext cx="17373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77072" y="1892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CleanedData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337560"/>
            <a:ext cx="11185855" cy="2926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1520" y="35021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standardization performed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886200"/>
            <a:ext cx="10454335" cy="135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datatypes (date/time, numeric measures) and removed non-analysis columns.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readable labels (Day Name, Weekend vs Weekday, weather labels).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condition bands (temperature band, wind category) to simplify comparisons.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rolling 24-hour mean &amp; std for demand, then Z-score and anomaly flag.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4/12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B05EEC-CF5F-8175-6A6C-84129C695B5D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Anomaly Method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derived fields were created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5455768" cy="5212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4724248" cy="135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temp_band: Cold vs Mild (binned from temp)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Category: Calm / Light Breeze / Gale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Hr Classification: Morning / Midday / Evening / Night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Weekend_Weekday and Day Name for behavior patterns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1051560"/>
            <a:ext cx="5455768" cy="5212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61608" y="1216152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(24h Z-score)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53048" y="1691640"/>
            <a:ext cx="4815688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 window: 24 hours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rolling_mean_24h = mean(cnt, last 24 rows)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rolling_std_24h  = std(cnt, last 24 rows)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zscore_24h = (cnt - rolling_mean_24h) / rolling_std_24h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 flag: |zscore_24h| ≥ 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53048" y="4892040"/>
            <a:ext cx="481568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35928" y="5138928"/>
            <a:ext cx="4449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anomalies in dataset: 3 (out of 1000 records)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5/12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B5465-7C85-1698-B987-3F4088E0AE8C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Pattern by Hour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rentals by hour of 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1185855" cy="44348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demand curve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1554480"/>
          <a:ext cx="1072865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22960" y="5596128"/>
            <a:ext cx="10545775" cy="68580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05840" y="5742432"/>
            <a:ext cx="10180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average demand at 17:00 (~140.2 rentals). Secondary peak around 08:00 (commute).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6/12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C50A6-CCE4-BE47-F44F-C62E59BC1E5D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Behavior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rentals vary by weekday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7360920" cy="44348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690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demand by day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1554480"/>
          <a:ext cx="69037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046720" y="1051560"/>
            <a:ext cx="3642055" cy="44348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75320" y="1216152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14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8275320" y="1554480"/>
          <a:ext cx="318485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8138160" y="5532120"/>
            <a:ext cx="3459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average 63.3 rentals vs 48.1 on weekends.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7/12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2FAEF-F35B-9247-B70B-A583B5351CF7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temperature effects on rentals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6446520" cy="45262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demand by weather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1554480"/>
          <a:ext cx="59893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132320" y="1051560"/>
            <a:ext cx="4556455" cy="21488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60920" y="1216152"/>
            <a:ext cx="4099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band</a:t>
            </a:r>
            <a:endParaRPr lang="en-US" sz="14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7360920" y="1554480"/>
          <a:ext cx="4099255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7132320" y="3429000"/>
            <a:ext cx="4556455" cy="21488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7360920" y="3593592"/>
            <a:ext cx="40992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category</a:t>
            </a:r>
            <a:endParaRPr lang="en-US" sz="1400" dirty="0"/>
          </a:p>
        </p:txBody>
      </p:sp>
      <p:graphicFrame>
        <p:nvGraphicFramePr>
          <p:cNvPr id="15" name="Chart 2"/>
          <p:cNvGraphicFramePr/>
          <p:nvPr/>
        </p:nvGraphicFramePr>
        <p:xfrm>
          <a:off x="7360920" y="3931920"/>
          <a:ext cx="4099255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Shape 11"/>
          <p:cNvSpPr/>
          <p:nvPr/>
        </p:nvSpPr>
        <p:spPr>
          <a:xfrm>
            <a:off x="502920" y="5596128"/>
            <a:ext cx="11185855" cy="68580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914400" y="5742432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Clear/partly cloudy shows the highest average demand (~61.7). Cold conditions reduce demand vs mild (≈47.7 vs 66.2).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8/12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C6D5A-9DD5-7969-AA16-F5E668B237A1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Segments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usage and monthly totals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5989320" cy="5212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demand by time-of-day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1554480"/>
          <a:ext cx="553212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675120" y="1051560"/>
            <a:ext cx="5013655" cy="5212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903720" y="1216152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 by month</a:t>
            </a:r>
            <a:endParaRPr lang="en-US" sz="14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903720" y="1554480"/>
          <a:ext cx="4556455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9/12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2FCFFC-E3B7-ECD6-5E30-59F47D880DA8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Snapshot (Correlation)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demand and conditions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7406640" cy="5212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cnt with numeric drivers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31520" y="1554480"/>
          <a:ext cx="69494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138160" y="1051560"/>
            <a:ext cx="3550615" cy="5212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366760" y="1216152"/>
            <a:ext cx="3093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0" y="1691640"/>
            <a:ext cx="2956255" cy="1351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shows a positive association (corr ≈ 0.23).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shows a negative association (corr ≈ -0.25).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directional, not causation; use it as a screening signal for forecasting.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categorical drivers (weather labels, weekday/weekend) for stronger models.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10/12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493E9-54AA-7902-317D-874AC4EBA8D0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flagged with |Z| ≥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7223760" cy="5212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anomaly hours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1691640"/>
            <a:ext cx="1920240" cy="4114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96112" y="180136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1691640"/>
            <a:ext cx="914400" cy="4114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816352" y="1801368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691640"/>
            <a:ext cx="1097280" cy="4114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30752" y="1801368"/>
            <a:ext cx="950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691640"/>
            <a:ext cx="1280160" cy="4114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28032" y="1801368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1554480" cy="4114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08192" y="1801368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mean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10312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96112" y="221284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2011-01-10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0" y="210312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816352" y="2212848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210312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30752" y="2212848"/>
            <a:ext cx="950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28032" y="2212848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210312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08192" y="2212848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2560320"/>
            <a:ext cx="1920240" cy="457200"/>
          </a:xfrm>
          <a:prstGeom prst="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96112" y="267004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2011-01-28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0" y="2560320"/>
            <a:ext cx="914400" cy="457200"/>
          </a:xfrm>
          <a:prstGeom prst="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816352" y="2670048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0" y="2560320"/>
            <a:ext cx="1097280" cy="457200"/>
          </a:xfrm>
          <a:prstGeom prst="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730752" y="2670048"/>
            <a:ext cx="950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2560320"/>
            <a:ext cx="1280160" cy="457200"/>
          </a:xfrm>
          <a:prstGeom prst="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28032" y="2670048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35040" y="2560320"/>
            <a:ext cx="1554480" cy="457200"/>
          </a:xfrm>
          <a:prstGeom prst="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08192" y="2670048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2960" y="301752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96112" y="3127248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2011-01-13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0" y="3017520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816352" y="3127248"/>
            <a:ext cx="7680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0" y="301752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30752" y="3127248"/>
            <a:ext cx="950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54880" y="301752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28032" y="3127248"/>
            <a:ext cx="1133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035040" y="301752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3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08192" y="3127248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52.8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55280" y="1051560"/>
            <a:ext cx="3733495" cy="443484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8183880" y="1216152"/>
            <a:ext cx="3276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by hour</a:t>
            </a:r>
            <a:endParaRPr lang="en-US" sz="1400" dirty="0"/>
          </a:p>
        </p:txBody>
      </p:sp>
      <p:graphicFrame>
        <p:nvGraphicFramePr>
          <p:cNvPr id="51" name="Chart 0"/>
          <p:cNvGraphicFramePr/>
          <p:nvPr/>
        </p:nvGraphicFramePr>
        <p:xfrm>
          <a:off x="8183880" y="1554480"/>
          <a:ext cx="327629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Text 49"/>
          <p:cNvSpPr/>
          <p:nvPr/>
        </p:nvSpPr>
        <p:spPr>
          <a:xfrm>
            <a:off x="8046720" y="5596128"/>
            <a:ext cx="35506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flagged anomalies occurred at 08:00 (morning commute spike).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11/12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8B822-4D69-E77F-7E71-63B7E0BF4DE9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5B2EFF"/>
          </a:solidFill>
          <a:ln w="12700">
            <a:solidFill>
              <a:srgbClr val="5B2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91440"/>
            <a:ext cx="9037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374904"/>
            <a:ext cx="90370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these findings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5455768" cy="5212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1216152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(from data)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4724248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occurs at 17:00 with avg ≈ 140.2 rentals.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exceed weekends (≈ 63.3 vs 48.1 avg).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weather supports higher demand (≈ 61.7 avg).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temperatures outperform cold (≈ 66.2 vs 47.7).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shows a negative relationship with demand (corr ≈ -0.25).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1051560"/>
            <a:ext cx="5455768" cy="521208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FFF3E6"/>
            </a:solidFill>
            <a:prstDash val="solid"/>
          </a:ln>
          <a:effectLst>
            <a:outerShdw blurRad="254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61608" y="1216152"/>
            <a:ext cx="499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98768" y="1691640"/>
            <a:ext cx="4724248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bikes ahead of commute peaks (08:00 and 17:00–18:00).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weather-aware staffing and maintenance scheduling (rain/snow → lower demand).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weekend promotions or partnerships to lift weekend utilization.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08:00 spikes via simple Z-score alerts for rapid operations response.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build a forecasting model using hour, weekday/weekend, weather and humidity.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111858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 Demand Analysis  |  Slide 12/12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530EE-E697-7D46-85B8-2B86F81CDA53}"/>
              </a:ext>
            </a:extLst>
          </p:cNvPr>
          <p:cNvSpPr txBox="1"/>
          <p:nvPr/>
        </p:nvSpPr>
        <p:spPr>
          <a:xfrm>
            <a:off x="8806255" y="6433137"/>
            <a:ext cx="2882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000" dirty="0"/>
              <a:t>Anamika Rani</a:t>
            </a:r>
            <a:r>
              <a:rPr sz="1000" dirty="0"/>
              <a:t> | Internship – </a:t>
            </a:r>
            <a:r>
              <a:rPr sz="1000" dirty="0" err="1"/>
              <a:t>NextHike</a:t>
            </a:r>
            <a:r>
              <a:rPr sz="1000" dirty="0"/>
              <a:t> | 20/01/2026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1279</Words>
  <Application>Microsoft Office PowerPoint</Application>
  <PresentationFormat>Widescreen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Submission Deck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Analysis (Vibrant Infographic)</dc:title>
  <dc:subject>Bike Sharing Demand Analysis</dc:subject>
  <dc:creator>Bike Sharing Project</dc:creator>
  <cp:lastModifiedBy>manoj kumar</cp:lastModifiedBy>
  <cp:revision>3</cp:revision>
  <dcterms:created xsi:type="dcterms:W3CDTF">2026-01-13T15:39:25Z</dcterms:created>
  <dcterms:modified xsi:type="dcterms:W3CDTF">2026-01-17T08:19:40Z</dcterms:modified>
</cp:coreProperties>
</file>